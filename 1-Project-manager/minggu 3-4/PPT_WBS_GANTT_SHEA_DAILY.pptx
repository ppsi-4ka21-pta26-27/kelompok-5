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6C68C3CD-FEC2-15B9-35E4-3FC7A3558D06}">
          <p14:sldIdLst>
            <p14:sldId id="256"/>
          </p14:sldIdLst>
        </p14:section>
        <p14:section name="WBS" id="{2F5839DF-CD09-5828-911C-D416D190C6B4}">
          <p14:sldIdLst>
            <p14:sldId id="257"/>
          </p14:sldIdLst>
        </p14:section>
        <p14:section name="Jadwal" id="{2C134CB6-BA0E-02A8-7026-D06022D5CB33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67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Fokus presentasi: bagaimana pekerjaan dipecah (WBS) dan bagaimana jadwalnya (Gantt Chart). Proyek berjalan 15 minggu, dari 28 September 2026 sampai BAST pada 10 Januari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WBS, delapan paket level 1: manajemen proyek sepanjang proyek plus tujuh fase perkuliahan. Setiap fase dipecah menjadi 3 sampai 4 paket kerja yang punya deliverable, PIC, dan durasi. Total 29 paket kerja, tidak ada yang tumpang tindih.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 jadwal per fase: tanggal, durasi, PIC, dan deliverable. Tiga hal yang perlu diingat: urutan fase berurutan, UTS di Minggu 11 tidak dipakai, dan UAT serta deploy melewati hari libur Natal dan Tahun Baru.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Gantt ringkasan per fase, sama dengan sheet Gantt di Excel. Warna pekat adalah progres selesai. Per 19 Oktober: Perencanaan selesai, Definisi 68 persen karena menunggu tanda tangan RD, sehingga M1 berstatus terlambat. Jadwal rinci per paket kerja ada di file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Sembilan milestone dari M1 sampai M9. Saat ini M2 tercapai, M1 terlambat karena RD belum ditandatangani. Status di Excel berubah otomatis mengikuti status paket kerja.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3B2A33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Rencana Proyek: WBS dan Gantt Chart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4E1E6"/>
                </a:solidFill>
              </a:rPr>
              <a:t>Perancangan dan Pengembangan Website E-Commerce Hijab pada Shea Daily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B8BF"/>
                </a:solidFill>
              </a:rPr>
              <a:t>Kelompok 5  |  Project Manager: Rico Lasdiansyah  |  19 Oktober 2026 (Minggu 4)</a:t>
            </a:r>
            <a:endParaRPr lang="en-US" sz="1400" dirty="0"/>
          </a:p>
        </p:txBody>
      </p:sp>
      <p:sp>
        <p:nvSpPr>
          <p:cNvPr id="5" name="Kartu statistik 1"/>
          <p:cNvSpPr/>
          <p:nvPr/>
        </p:nvSpPr>
        <p:spPr>
          <a:xfrm>
            <a:off x="731520" y="397764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4A3641"/>
          </a:solidFill>
          <a:ln w="12700">
            <a:solidFill>
              <a:srgbClr val="4A36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92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paket level 1</a:t>
            </a:r>
            <a:endParaRPr lang="en-US" sz="1400" dirty="0"/>
          </a:p>
        </p:txBody>
      </p:sp>
      <p:sp>
        <p:nvSpPr>
          <p:cNvPr id="8" name="Kartu statistik 2"/>
          <p:cNvSpPr/>
          <p:nvPr/>
        </p:nvSpPr>
        <p:spPr>
          <a:xfrm>
            <a:off x="4389120" y="397764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4A3641"/>
          </a:solidFill>
          <a:ln w="12700">
            <a:solidFill>
              <a:srgbClr val="4A36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892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paket kerja level 2</a:t>
            </a:r>
            <a:endParaRPr lang="en-US" sz="1400" dirty="0"/>
          </a:p>
        </p:txBody>
      </p:sp>
      <p:sp>
        <p:nvSpPr>
          <p:cNvPr id="11" name="Kartu statistik 3"/>
          <p:cNvSpPr/>
          <p:nvPr/>
        </p:nvSpPr>
        <p:spPr>
          <a:xfrm>
            <a:off x="8046720" y="397764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4A3641"/>
          </a:solidFill>
          <a:ln w="12700">
            <a:solidFill>
              <a:srgbClr val="4A36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4892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minggu, 28 Sep 2026 – 10 Jan 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B2A33"/>
                </a:solidFill>
              </a:rPr>
              <a:t>WBS: 8 paket besar, 29 paket kerja</a:t>
            </a:r>
            <a:endParaRPr lang="en-US" sz="3400" dirty="0"/>
          </a:p>
        </p:txBody>
      </p:sp>
      <p:sp>
        <p:nvSpPr>
          <p:cNvPr id="3" name="Akar WBS"/>
          <p:cNvSpPr/>
          <p:nvPr/>
        </p:nvSpPr>
        <p:spPr>
          <a:xfrm>
            <a:off x="4572000" y="1188720"/>
            <a:ext cx="3044952" cy="457200"/>
          </a:xfrm>
          <a:prstGeom prst="roundRect">
            <a:avLst>
              <a:gd name="adj" fmla="val 16000"/>
            </a:avLst>
          </a:prstGeom>
          <a:solidFill>
            <a:srgbClr val="3B2A33"/>
          </a:solidFill>
          <a:ln w="12700">
            <a:solidFill>
              <a:srgbClr val="3B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0" y="1188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Website E-Commerce Shea Daily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305" y="1645920"/>
            <a:ext cx="0" cy="18288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7232" y="1828800"/>
            <a:ext cx="9857232" cy="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7232" y="1828800"/>
            <a:ext cx="0" cy="13716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8" name="Paket 1"/>
          <p:cNvSpPr/>
          <p:nvPr/>
        </p:nvSpPr>
        <p:spPr>
          <a:xfrm>
            <a:off x="518008" y="1965960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8008" y="1965960"/>
            <a:ext cx="12984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  Manajemen Proyek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Sepanjang proyek</a:t>
            </a:r>
            <a:endParaRPr lang="en-US" sz="1200" dirty="0"/>
          </a:p>
        </p:txBody>
      </p:sp>
      <p:sp>
        <p:nvSpPr>
          <p:cNvPr id="10" name="Paket kerja 1.1"/>
          <p:cNvSpPr/>
          <p:nvPr/>
        </p:nvSpPr>
        <p:spPr>
          <a:xfrm>
            <a:off x="518008" y="283464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8008" y="283464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1.1 Rapat mingguan tim dan klien</a:t>
            </a:r>
            <a:endParaRPr lang="en-US" sz="1000" dirty="0"/>
          </a:p>
        </p:txBody>
      </p:sp>
      <p:sp>
        <p:nvSpPr>
          <p:cNvPr id="12" name="Paket kerja 1.2"/>
          <p:cNvSpPr/>
          <p:nvPr/>
        </p:nvSpPr>
        <p:spPr>
          <a:xfrm>
            <a:off x="518008" y="365760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8008" y="365760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1.2 Pemantauan jadwal dan risiko</a:t>
            </a:r>
            <a:endParaRPr lang="en-US" sz="1000" dirty="0"/>
          </a:p>
        </p:txBody>
      </p:sp>
      <p:sp>
        <p:nvSpPr>
          <p:cNvPr id="14" name="Paket kerja 1.3"/>
          <p:cNvSpPr/>
          <p:nvPr/>
        </p:nvSpPr>
        <p:spPr>
          <a:xfrm>
            <a:off x="518008" y="448056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008" y="448056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1.3 Komunikasi dan persetujuan klien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75408" y="1828800"/>
            <a:ext cx="0" cy="13716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17" name="Paket 2"/>
          <p:cNvSpPr/>
          <p:nvPr/>
        </p:nvSpPr>
        <p:spPr>
          <a:xfrm>
            <a:off x="1926184" y="1965960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26184" y="1965960"/>
            <a:ext cx="12984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  Definisi Proyek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Mg 1–3</a:t>
            </a:r>
            <a:endParaRPr lang="en-US" sz="1200" dirty="0"/>
          </a:p>
        </p:txBody>
      </p:sp>
      <p:sp>
        <p:nvSpPr>
          <p:cNvPr id="19" name="Paket kerja 2.1"/>
          <p:cNvSpPr/>
          <p:nvPr/>
        </p:nvSpPr>
        <p:spPr>
          <a:xfrm>
            <a:off x="1926184" y="283464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26184" y="283464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2.1 Wawancara dan identifikasi masalah</a:t>
            </a:r>
            <a:endParaRPr lang="en-US" sz="1000" dirty="0"/>
          </a:p>
        </p:txBody>
      </p:sp>
      <p:sp>
        <p:nvSpPr>
          <p:cNvPr id="21" name="Paket kerja 2.2"/>
          <p:cNvSpPr/>
          <p:nvPr/>
        </p:nvSpPr>
        <p:spPr>
          <a:xfrm>
            <a:off x="1926184" y="365760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26184" y="365760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2.2 Penyusunan Requirement Document</a:t>
            </a:r>
            <a:endParaRPr lang="en-US" sz="1000" dirty="0"/>
          </a:p>
        </p:txBody>
      </p:sp>
      <p:sp>
        <p:nvSpPr>
          <p:cNvPr id="23" name="Paket kerja 2.3"/>
          <p:cNvSpPr/>
          <p:nvPr/>
        </p:nvSpPr>
        <p:spPr>
          <a:xfrm>
            <a:off x="1926184" y="448056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26184" y="448056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2.3 Persetujuan klien atas 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83584" y="1828800"/>
            <a:ext cx="0" cy="13716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26" name="Paket 3"/>
          <p:cNvSpPr/>
          <p:nvPr/>
        </p:nvSpPr>
        <p:spPr>
          <a:xfrm>
            <a:off x="3334360" y="1965960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4360" y="1965960"/>
            <a:ext cx="12984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 Perencanaan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Mg 3–4</a:t>
            </a:r>
            <a:endParaRPr lang="en-US" sz="1200" dirty="0"/>
          </a:p>
        </p:txBody>
      </p:sp>
      <p:sp>
        <p:nvSpPr>
          <p:cNvPr id="28" name="Paket kerja 3.1"/>
          <p:cNvSpPr/>
          <p:nvPr/>
        </p:nvSpPr>
        <p:spPr>
          <a:xfrm>
            <a:off x="3334360" y="283464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ED7D3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34360" y="283464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3.1 Proses bisnis dan gambaran sistem</a:t>
            </a:r>
            <a:endParaRPr lang="en-US" sz="1000" dirty="0"/>
          </a:p>
        </p:txBody>
      </p:sp>
      <p:sp>
        <p:nvSpPr>
          <p:cNvPr id="30" name="Paket kerja 3.2"/>
          <p:cNvSpPr/>
          <p:nvPr/>
        </p:nvSpPr>
        <p:spPr>
          <a:xfrm>
            <a:off x="3334360" y="365760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ED7D3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34360" y="365760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3.2 Analisis kelayakan</a:t>
            </a:r>
            <a:endParaRPr lang="en-US" sz="1000" dirty="0"/>
          </a:p>
        </p:txBody>
      </p:sp>
      <p:sp>
        <p:nvSpPr>
          <p:cNvPr id="32" name="Paket kerja 3.3"/>
          <p:cNvSpPr/>
          <p:nvPr/>
        </p:nvSpPr>
        <p:spPr>
          <a:xfrm>
            <a:off x="3334360" y="448056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ED7D3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34360" y="448056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3.3 WBS dan Gantt Chart</a:t>
            </a:r>
            <a:endParaRPr lang="en-US" sz="1000" dirty="0"/>
          </a:p>
        </p:txBody>
      </p:sp>
      <p:sp>
        <p:nvSpPr>
          <p:cNvPr id="34" name="Paket kerja 3.4"/>
          <p:cNvSpPr/>
          <p:nvPr/>
        </p:nvSpPr>
        <p:spPr>
          <a:xfrm>
            <a:off x="3334360" y="530352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ED7D3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34360" y="530352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3.4 Dokumen dan presentasi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91760" y="1828800"/>
            <a:ext cx="0" cy="13716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37" name="Paket 4"/>
          <p:cNvSpPr/>
          <p:nvPr/>
        </p:nvSpPr>
        <p:spPr>
          <a:xfrm>
            <a:off x="4742536" y="1965960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42536" y="1965960"/>
            <a:ext cx="12984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  Analisis Kebutuhan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Mg 5–6</a:t>
            </a:r>
            <a:endParaRPr lang="en-US" sz="1200" dirty="0"/>
          </a:p>
        </p:txBody>
      </p:sp>
      <p:sp>
        <p:nvSpPr>
          <p:cNvPr id="39" name="Paket kerja 4.1"/>
          <p:cNvSpPr/>
          <p:nvPr/>
        </p:nvSpPr>
        <p:spPr>
          <a:xfrm>
            <a:off x="4742536" y="283464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0AD4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42536" y="283464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4.1 Wawancara dan observasi lanjutan</a:t>
            </a:r>
            <a:endParaRPr lang="en-US" sz="1000" dirty="0"/>
          </a:p>
        </p:txBody>
      </p:sp>
      <p:sp>
        <p:nvSpPr>
          <p:cNvPr id="41" name="Paket kerja 4.2"/>
          <p:cNvSpPr/>
          <p:nvPr/>
        </p:nvSpPr>
        <p:spPr>
          <a:xfrm>
            <a:off x="4742536" y="365760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0AD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42536" y="365760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4.2 Spesifikasi kebutuhan</a:t>
            </a:r>
            <a:endParaRPr lang="en-US" sz="1000" dirty="0"/>
          </a:p>
        </p:txBody>
      </p:sp>
      <p:sp>
        <p:nvSpPr>
          <p:cNvPr id="43" name="Paket kerja 4.3"/>
          <p:cNvSpPr/>
          <p:nvPr/>
        </p:nvSpPr>
        <p:spPr>
          <a:xfrm>
            <a:off x="4742536" y="448056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0AD4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42536" y="448056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4.3 Use case dan skenario</a:t>
            </a:r>
            <a:endParaRPr lang="en-US" sz="1000" dirty="0"/>
          </a:p>
        </p:txBody>
      </p:sp>
      <p:sp>
        <p:nvSpPr>
          <p:cNvPr id="45" name="Paket kerja 4.4"/>
          <p:cNvSpPr/>
          <p:nvPr/>
        </p:nvSpPr>
        <p:spPr>
          <a:xfrm>
            <a:off x="4742536" y="530352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0AD4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42536" y="530352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4.4 Review SRS dan persetujuan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99936" y="1828800"/>
            <a:ext cx="0" cy="13716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48" name="Paket 5"/>
          <p:cNvSpPr/>
          <p:nvPr/>
        </p:nvSpPr>
        <p:spPr>
          <a:xfrm>
            <a:off x="6150712" y="1965960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50712" y="1965960"/>
            <a:ext cx="12984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  Desain Sistem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Mg 7–8</a:t>
            </a:r>
            <a:endParaRPr lang="en-US" sz="1200" dirty="0"/>
          </a:p>
        </p:txBody>
      </p:sp>
      <p:sp>
        <p:nvSpPr>
          <p:cNvPr id="50" name="Paket kerja 5.1"/>
          <p:cNvSpPr/>
          <p:nvPr/>
        </p:nvSpPr>
        <p:spPr>
          <a:xfrm>
            <a:off x="6150712" y="283464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030A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150712" y="283464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5.1 Arsitektur dan ERD</a:t>
            </a:r>
            <a:endParaRPr lang="en-US" sz="1000" dirty="0"/>
          </a:p>
        </p:txBody>
      </p:sp>
      <p:sp>
        <p:nvSpPr>
          <p:cNvPr id="52" name="Paket kerja 5.2"/>
          <p:cNvSpPr/>
          <p:nvPr/>
        </p:nvSpPr>
        <p:spPr>
          <a:xfrm>
            <a:off x="6150712" y="365760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030A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50712" y="365760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5.2 Wireframe dan prototipe UI</a:t>
            </a:r>
            <a:endParaRPr lang="en-US" sz="1000" dirty="0"/>
          </a:p>
        </p:txBody>
      </p:sp>
      <p:sp>
        <p:nvSpPr>
          <p:cNvPr id="54" name="Paket kerja 5.3"/>
          <p:cNvSpPr/>
          <p:nvPr/>
        </p:nvSpPr>
        <p:spPr>
          <a:xfrm>
            <a:off x="6150712" y="448056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030A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150712" y="448056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5.3 Spesifikasi API RajaOngkir dan Midtrans</a:t>
            </a:r>
            <a:endParaRPr lang="en-US" sz="1000" dirty="0"/>
          </a:p>
        </p:txBody>
      </p:sp>
      <p:sp>
        <p:nvSpPr>
          <p:cNvPr id="56" name="Paket kerja 5.4"/>
          <p:cNvSpPr/>
          <p:nvPr/>
        </p:nvSpPr>
        <p:spPr>
          <a:xfrm>
            <a:off x="6150712" y="530352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7030A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150712" y="530352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5.4 Persetujuan prototipe dan SDD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208112" y="1828800"/>
            <a:ext cx="0" cy="13716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59" name="Paket 6"/>
          <p:cNvSpPr/>
          <p:nvPr/>
        </p:nvSpPr>
        <p:spPr>
          <a:xfrm>
            <a:off x="7558888" y="1965960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558888" y="1965960"/>
            <a:ext cx="12984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  Pemrograman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Mg 9, 10, 12</a:t>
            </a:r>
            <a:endParaRPr lang="en-US" sz="1200" dirty="0"/>
          </a:p>
        </p:txBody>
      </p:sp>
      <p:sp>
        <p:nvSpPr>
          <p:cNvPr id="61" name="Paket kerja 6.1"/>
          <p:cNvSpPr/>
          <p:nvPr/>
        </p:nvSpPr>
        <p:spPr>
          <a:xfrm>
            <a:off x="7558888" y="283464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558888" y="283464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6.1 Modul 1: autentikasi, produk, katalog</a:t>
            </a:r>
            <a:endParaRPr lang="en-US" sz="1000" dirty="0"/>
          </a:p>
        </p:txBody>
      </p:sp>
      <p:sp>
        <p:nvSpPr>
          <p:cNvPr id="63" name="Paket kerja 6.2"/>
          <p:cNvSpPr/>
          <p:nvPr/>
        </p:nvSpPr>
        <p:spPr>
          <a:xfrm>
            <a:off x="7558888" y="365760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558888" y="365760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6.2 Modul 2: keranjang, checkout, ongkir, bayar</a:t>
            </a:r>
            <a:endParaRPr lang="en-US" sz="1000" dirty="0"/>
          </a:p>
        </p:txBody>
      </p:sp>
      <p:sp>
        <p:nvSpPr>
          <p:cNvPr id="65" name="Paket kerja 6.3"/>
          <p:cNvSpPr/>
          <p:nvPr/>
        </p:nvSpPr>
        <p:spPr>
          <a:xfrm>
            <a:off x="7558888" y="448056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558888" y="448056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6.3 Modul 3: admin, ulasan, halaman info</a:t>
            </a:r>
            <a:endParaRPr lang="en-US" sz="1000" dirty="0"/>
          </a:p>
        </p:txBody>
      </p:sp>
      <p:sp>
        <p:nvSpPr>
          <p:cNvPr id="67" name="Paket kerja 6.4"/>
          <p:cNvSpPr/>
          <p:nvPr/>
        </p:nvSpPr>
        <p:spPr>
          <a:xfrm>
            <a:off x="7558888" y="530352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558888" y="530352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6.4 Dokumen implementasi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616288" y="1828800"/>
            <a:ext cx="0" cy="13716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70" name="Paket 7"/>
          <p:cNvSpPr/>
          <p:nvPr/>
        </p:nvSpPr>
        <p:spPr>
          <a:xfrm>
            <a:off x="8967064" y="1965960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967064" y="1965960"/>
            <a:ext cx="12984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  Pengujian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Mg 13</a:t>
            </a:r>
            <a:endParaRPr lang="en-US" sz="1200" dirty="0"/>
          </a:p>
        </p:txBody>
      </p:sp>
      <p:sp>
        <p:nvSpPr>
          <p:cNvPr id="72" name="Paket kerja 7.1"/>
          <p:cNvSpPr/>
          <p:nvPr/>
        </p:nvSpPr>
        <p:spPr>
          <a:xfrm>
            <a:off x="8967064" y="283464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967064" y="283464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7.1 Pengujian modul dan integrasi</a:t>
            </a:r>
            <a:endParaRPr lang="en-US" sz="1000" dirty="0"/>
          </a:p>
        </p:txBody>
      </p:sp>
      <p:sp>
        <p:nvSpPr>
          <p:cNvPr id="74" name="Paket kerja 7.2"/>
          <p:cNvSpPr/>
          <p:nvPr/>
        </p:nvSpPr>
        <p:spPr>
          <a:xfrm>
            <a:off x="8967064" y="365760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967064" y="365760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7.2 UAT bersama klien</a:t>
            </a:r>
            <a:endParaRPr lang="en-US" sz="1000" dirty="0"/>
          </a:p>
        </p:txBody>
      </p:sp>
      <p:sp>
        <p:nvSpPr>
          <p:cNvPr id="76" name="Paket kerja 7.3"/>
          <p:cNvSpPr/>
          <p:nvPr/>
        </p:nvSpPr>
        <p:spPr>
          <a:xfrm>
            <a:off x="8967064" y="448056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BF900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967064" y="448056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7.3 Perbaikan bug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1024464" y="1828800"/>
            <a:ext cx="0" cy="137160"/>
          </a:xfrm>
          <a:prstGeom prst="line">
            <a:avLst/>
          </a:prstGeom>
          <a:noFill/>
          <a:ln w="15875">
            <a:solidFill>
              <a:srgbClr val="3B2A33"/>
            </a:solidFill>
            <a:prstDash val="solid"/>
          </a:ln>
        </p:spPr>
      </p:sp>
      <p:sp>
        <p:nvSpPr>
          <p:cNvPr id="79" name="Paket 8"/>
          <p:cNvSpPr/>
          <p:nvPr/>
        </p:nvSpPr>
        <p:spPr>
          <a:xfrm>
            <a:off x="10375240" y="1965960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00808A"/>
          </a:solidFill>
          <a:ln w="12700">
            <a:solidFill>
              <a:srgbClr val="00808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375240" y="1965960"/>
            <a:ext cx="129844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  Penerapan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Mg 14–15</a:t>
            </a:r>
            <a:endParaRPr lang="en-US" sz="1200" dirty="0"/>
          </a:p>
        </p:txBody>
      </p:sp>
      <p:sp>
        <p:nvSpPr>
          <p:cNvPr id="81" name="Paket kerja 8.1"/>
          <p:cNvSpPr/>
          <p:nvPr/>
        </p:nvSpPr>
        <p:spPr>
          <a:xfrm>
            <a:off x="10375240" y="283464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00808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375240" y="283464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8.1 Deploy dan konfigurasi hosting</a:t>
            </a:r>
            <a:endParaRPr lang="en-US" sz="1000" dirty="0"/>
          </a:p>
        </p:txBody>
      </p:sp>
      <p:sp>
        <p:nvSpPr>
          <p:cNvPr id="83" name="Paket kerja 8.2"/>
          <p:cNvSpPr/>
          <p:nvPr/>
        </p:nvSpPr>
        <p:spPr>
          <a:xfrm>
            <a:off x="10375240" y="365760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00808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375240" y="365760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8.2 User manual</a:t>
            </a:r>
            <a:endParaRPr lang="en-US" sz="1000" dirty="0"/>
          </a:p>
        </p:txBody>
      </p:sp>
      <p:sp>
        <p:nvSpPr>
          <p:cNvPr id="85" name="Paket kerja 8.3"/>
          <p:cNvSpPr/>
          <p:nvPr/>
        </p:nvSpPr>
        <p:spPr>
          <a:xfrm>
            <a:off x="10375240" y="448056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00808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375240" y="448056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8.3 Pelatihan pengguna</a:t>
            </a:r>
            <a:endParaRPr lang="en-US" sz="1000" dirty="0"/>
          </a:p>
        </p:txBody>
      </p:sp>
      <p:sp>
        <p:nvSpPr>
          <p:cNvPr id="87" name="Paket kerja 8.4"/>
          <p:cNvSpPr/>
          <p:nvPr/>
        </p:nvSpPr>
        <p:spPr>
          <a:xfrm>
            <a:off x="10375240" y="5303520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00808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375240" y="5303520"/>
            <a:ext cx="1298448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1F26"/>
                </a:solidFill>
              </a:rPr>
              <a:t>8.4 BAST dan laporan akhir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62"/>
                </a:solidFill>
              </a:rPr>
              <a:t>PIC, deliverable, dan durasi tiap paket kerja ada di Kamus WBS (Dokumen 01 Bagian II, bab 5.2).</a:t>
            </a:r>
            <a:endParaRPr lang="en-US" sz="1200" dirty="0"/>
          </a:p>
        </p:txBody>
      </p:sp>
      <p:sp>
        <p:nvSpPr>
          <p:cNvPr id="9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B2A33"/>
                </a:solidFill>
              </a:rPr>
              <a:t>Jadwal: 7 fase berurutan sampai Mg 15</a:t>
            </a:r>
            <a:endParaRPr lang="en-US" sz="3400" dirty="0"/>
          </a:p>
        </p:txBody>
      </p:sp>
      <p:graphicFrame>
        <p:nvGraphicFramePr>
          <p:cNvPr id="4" name="Tabel jadwal fa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271227"/>
              </p:ext>
            </p:extLst>
          </p:nvPr>
        </p:nvGraphicFramePr>
        <p:xfrm>
          <a:off x="548640" y="1280160"/>
          <a:ext cx="11091672" cy="38679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Fase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Minggu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Tanggal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Hari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PIC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Deliverable utama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7F7F7F"/>
                          </a:solidFill>
                        </a:rPr>
                        <a:t>Manajemen Proyek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1–15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28 Sep 2026 – 10 Jan 2027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105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PM (Rico)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Notulen, laporan status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5B6"/>
                          </a:solidFill>
                        </a:rPr>
                        <a:t>Definisi Proyek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1–3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28 Sep – 18 Okt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SA (Rifki)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Requirement Document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D7D31"/>
                          </a:solidFill>
                        </a:rPr>
                        <a:t>Perencanaan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3–4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12 – 25 Okt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PM (Rico)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Dokumen Bag. II, WBS, Gantt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70AD47"/>
                          </a:solidFill>
                        </a:rPr>
                        <a:t>Analisis Kebutuhan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5–6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26 Okt – 8 Nov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SA (Rifki)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SRS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7030A0"/>
                          </a:solidFill>
                        </a:rPr>
                        <a:t>Desain Sistem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7–8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9 – 22 Nov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SD (Rifqi)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SDD, prototipe UI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C00000"/>
                          </a:solidFill>
                        </a:rPr>
                        <a:t>Pemrograman</a:t>
                      </a:r>
                      <a:r>
                        <a:rPr lang="en-US" sz="1300" b="1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9–12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23 Nov – 20 Des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28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Programmer (Ricardo)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Website, dokumen implementasi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F9000"/>
                          </a:solidFill>
                        </a:rPr>
                        <a:t>Pengujian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21 – 27 Des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Tester (Rifki)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Skenario uji, hasil UAT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808A"/>
                          </a:solidFill>
                        </a:rPr>
                        <a:t>Penerapan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14–15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28 Des 2026 – 10 Jan 2027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Tech Writer (Rifqi)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User manual, BAST, laporan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Catatan 1"/>
          <p:cNvSpPr/>
          <p:nvPr/>
        </p:nvSpPr>
        <p:spPr>
          <a:xfrm>
            <a:off x="548640" y="5257800"/>
            <a:ext cx="359359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E3D3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5303520"/>
            <a:ext cx="331927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4A5E"/>
                </a:solidFill>
              </a:rPr>
              <a:t>Urutan fase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1F26"/>
                </a:solidFill>
              </a:rPr>
              <a:t>Tiap fase mulai setelah fase sebelumnya selesai. Perencanaan sudah jalan di Mg 3 selagi tanda tangan RD ditunggu.</a:t>
            </a:r>
            <a:endParaRPr lang="en-US" sz="1400" dirty="0"/>
          </a:p>
        </p:txBody>
      </p:sp>
      <p:sp>
        <p:nvSpPr>
          <p:cNvPr id="6" name="Catatan 2"/>
          <p:cNvSpPr/>
          <p:nvPr/>
        </p:nvSpPr>
        <p:spPr>
          <a:xfrm>
            <a:off x="4297680" y="5257800"/>
            <a:ext cx="359359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E3D3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34840" y="5303520"/>
            <a:ext cx="331927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4A5E"/>
                </a:solidFill>
              </a:rPr>
              <a:t>UTS dan UAS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1F26"/>
                </a:solidFill>
              </a:rPr>
              <a:t>Mg 11 (UTS) tidak dipakai pengerjaan, jadi Pemrograman jalan di Mg 9, 10, dan 12. Mg 16 (UAS) di luar jadwal.</a:t>
            </a:r>
            <a:endParaRPr lang="en-US" sz="1400" dirty="0"/>
          </a:p>
        </p:txBody>
      </p:sp>
      <p:sp>
        <p:nvSpPr>
          <p:cNvPr id="8" name="Catatan 3"/>
          <p:cNvSpPr/>
          <p:nvPr/>
        </p:nvSpPr>
        <p:spPr>
          <a:xfrm>
            <a:off x="8046720" y="5257800"/>
            <a:ext cx="359359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E3D3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83880" y="5303520"/>
            <a:ext cx="331927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4A5E"/>
                </a:solidFill>
              </a:rPr>
              <a:t>Hari libur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1F26"/>
                </a:solidFill>
              </a:rPr>
              <a:t>UAT 25–27 Des melewati Natal, dan deploy sampai 1 Jan melewati Tahun Baru. Pekerjaan pakai hari kerja yang tersisa.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B2A33"/>
                </a:solidFill>
              </a:rPr>
              <a:t>Gantt Chart: 15 minggu, 9 milestone</a:t>
            </a:r>
            <a:endParaRPr lang="en-US" sz="3400" dirty="0"/>
          </a:p>
        </p:txBody>
      </p:sp>
      <p:sp>
        <p:nvSpPr>
          <p:cNvPr id="3" name="Pita UTS"/>
          <p:cNvSpPr/>
          <p:nvPr/>
        </p:nvSpPr>
        <p:spPr>
          <a:xfrm>
            <a:off x="8183880" y="1325880"/>
            <a:ext cx="566928" cy="4892040"/>
          </a:xfrm>
          <a:prstGeom prst="rect">
            <a:avLst/>
          </a:prstGeom>
          <a:solidFill>
            <a:srgbClr val="BFBFBF">
              <a:alpha val="45000"/>
            </a:srgbClr>
          </a:solidFill>
          <a:ln w="12700">
            <a:solidFill>
              <a:srgbClr val="BFBFBF">
                <a:alpha val="45000"/>
              </a:srgbClr>
            </a:solidFill>
            <a:prstDash val="solid"/>
          </a:ln>
        </p:spPr>
      </p:sp>
      <p:sp>
        <p:nvSpPr>
          <p:cNvPr id="4" name="Pita UAS"/>
          <p:cNvSpPr/>
          <p:nvPr/>
        </p:nvSpPr>
        <p:spPr>
          <a:xfrm>
            <a:off x="11018520" y="1325880"/>
            <a:ext cx="566928" cy="4892040"/>
          </a:xfrm>
          <a:prstGeom prst="rect">
            <a:avLst/>
          </a:prstGeom>
          <a:solidFill>
            <a:srgbClr val="BFBFBF">
              <a:alpha val="45000"/>
            </a:srgbClr>
          </a:solidFill>
          <a:ln w="12700">
            <a:solidFill>
              <a:srgbClr val="BFBFBF">
                <a:alpha val="4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14600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81528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48456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15384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82312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8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50024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9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2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10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UTS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0808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12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317736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13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884664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14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451592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15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018520" y="13258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16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</a:rPr>
              <a:t>UAS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5A62"/>
                </a:solidFill>
              </a:rPr>
              <a:t>Minggu</a:t>
            </a:r>
            <a:endParaRPr lang="en-US" sz="1100" dirty="0"/>
          </a:p>
        </p:txBody>
      </p:sp>
      <p:sp>
        <p:nvSpPr>
          <p:cNvPr id="22" name="Pita baris 1"/>
          <p:cNvSpPr/>
          <p:nvPr/>
        </p:nvSpPr>
        <p:spPr>
          <a:xfrm>
            <a:off x="548640" y="1783080"/>
            <a:ext cx="11036808" cy="457200"/>
          </a:xfrm>
          <a:prstGeom prst="rect">
            <a:avLst/>
          </a:prstGeom>
          <a:solidFill>
            <a:srgbClr val="F8F2F3">
              <a:alpha val="65000"/>
            </a:srgbClr>
          </a:solidFill>
          <a:ln w="12700">
            <a:solidFill>
              <a:srgbClr val="F8F2F3">
                <a:alpha val="0"/>
              </a:srgbClr>
            </a:solidFill>
            <a:prstDash val="solid"/>
          </a:ln>
        </p:spPr>
      </p:sp>
      <p:sp>
        <p:nvSpPr>
          <p:cNvPr id="23" name="Pita baris 3"/>
          <p:cNvSpPr/>
          <p:nvPr/>
        </p:nvSpPr>
        <p:spPr>
          <a:xfrm>
            <a:off x="548640" y="2697480"/>
            <a:ext cx="11036808" cy="457200"/>
          </a:xfrm>
          <a:prstGeom prst="rect">
            <a:avLst/>
          </a:prstGeom>
          <a:solidFill>
            <a:srgbClr val="F8F2F3">
              <a:alpha val="65000"/>
            </a:srgbClr>
          </a:solidFill>
          <a:ln w="12700">
            <a:solidFill>
              <a:srgbClr val="F8F2F3">
                <a:alpha val="0"/>
              </a:srgbClr>
            </a:solidFill>
            <a:prstDash val="solid"/>
          </a:ln>
        </p:spPr>
      </p:sp>
      <p:sp>
        <p:nvSpPr>
          <p:cNvPr id="24" name="Pita baris 5"/>
          <p:cNvSpPr/>
          <p:nvPr/>
        </p:nvSpPr>
        <p:spPr>
          <a:xfrm>
            <a:off x="548640" y="3611880"/>
            <a:ext cx="11036808" cy="457200"/>
          </a:xfrm>
          <a:prstGeom prst="rect">
            <a:avLst/>
          </a:prstGeom>
          <a:solidFill>
            <a:srgbClr val="F8F2F3">
              <a:alpha val="65000"/>
            </a:srgbClr>
          </a:solidFill>
          <a:ln w="12700">
            <a:solidFill>
              <a:srgbClr val="F8F2F3">
                <a:alpha val="0"/>
              </a:srgbClr>
            </a:solidFill>
            <a:prstDash val="solid"/>
          </a:ln>
        </p:spPr>
      </p:sp>
      <p:sp>
        <p:nvSpPr>
          <p:cNvPr id="25" name="Pita baris 7"/>
          <p:cNvSpPr/>
          <p:nvPr/>
        </p:nvSpPr>
        <p:spPr>
          <a:xfrm>
            <a:off x="548640" y="4526280"/>
            <a:ext cx="11036808" cy="457200"/>
          </a:xfrm>
          <a:prstGeom prst="rect">
            <a:avLst/>
          </a:prstGeom>
          <a:solidFill>
            <a:srgbClr val="F8F2F3">
              <a:alpha val="65000"/>
            </a:srgbClr>
          </a:solidFill>
          <a:ln w="12700">
            <a:solidFill>
              <a:srgbClr val="F8F2F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81528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48456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5384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49240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16168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0024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16952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50808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17736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84664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51592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18520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585448" y="1783080"/>
            <a:ext cx="0" cy="4434840"/>
          </a:xfrm>
          <a:prstGeom prst="line">
            <a:avLst/>
          </a:prstGeom>
          <a:noFill/>
          <a:ln w="6350">
            <a:solidFill>
              <a:srgbClr val="E3D3D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Manajemen Proyek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828800" y="1783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2"/>
                </a:solidFill>
              </a:rPr>
              <a:t>20%</a:t>
            </a:r>
            <a:endParaRPr lang="en-US" sz="1100" dirty="0"/>
          </a:p>
        </p:txBody>
      </p:sp>
      <p:sp>
        <p:nvSpPr>
          <p:cNvPr id="45" name="Bar sisa Manajemen Proyek"/>
          <p:cNvSpPr/>
          <p:nvPr/>
        </p:nvSpPr>
        <p:spPr>
          <a:xfrm>
            <a:off x="2542032" y="1874520"/>
            <a:ext cx="8449056" cy="274320"/>
          </a:xfrm>
          <a:prstGeom prst="rect">
            <a:avLst/>
          </a:prstGeom>
          <a:solidFill>
            <a:srgbClr val="7F7F7F">
              <a:alpha val="32000"/>
            </a:srgbClr>
          </a:solidFill>
          <a:ln w="12700">
            <a:solidFill>
              <a:srgbClr val="7F7F7F">
                <a:alpha val="32000"/>
              </a:srgbClr>
            </a:solidFill>
            <a:prstDash val="solid"/>
          </a:ln>
        </p:spPr>
      </p:sp>
      <p:sp>
        <p:nvSpPr>
          <p:cNvPr id="46" name="Bar selesai Manajemen Proyek"/>
          <p:cNvSpPr/>
          <p:nvPr/>
        </p:nvSpPr>
        <p:spPr>
          <a:xfrm>
            <a:off x="2542032" y="1874520"/>
            <a:ext cx="1689811" cy="27432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Definisi Proyek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828800" y="2240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2"/>
                </a:solidFill>
              </a:rPr>
              <a:t>68%</a:t>
            </a:r>
            <a:endParaRPr lang="en-US" sz="1100" dirty="0"/>
          </a:p>
        </p:txBody>
      </p:sp>
      <p:sp>
        <p:nvSpPr>
          <p:cNvPr id="49" name="Bar sisa Definisi Proyek"/>
          <p:cNvSpPr/>
          <p:nvPr/>
        </p:nvSpPr>
        <p:spPr>
          <a:xfrm>
            <a:off x="2542032" y="2331720"/>
            <a:ext cx="1645920" cy="274320"/>
          </a:xfrm>
          <a:prstGeom prst="rect">
            <a:avLst/>
          </a:prstGeom>
          <a:solidFill>
            <a:srgbClr val="2E75B6">
              <a:alpha val="32000"/>
            </a:srgbClr>
          </a:solidFill>
          <a:ln w="12700">
            <a:solidFill>
              <a:srgbClr val="2E75B6">
                <a:alpha val="32000"/>
              </a:srgbClr>
            </a:solidFill>
            <a:prstDash val="solid"/>
          </a:ln>
        </p:spPr>
      </p:sp>
      <p:sp>
        <p:nvSpPr>
          <p:cNvPr id="50" name="Bar selesai Definisi Proyek"/>
          <p:cNvSpPr/>
          <p:nvPr/>
        </p:nvSpPr>
        <p:spPr>
          <a:xfrm>
            <a:off x="2542032" y="2331720"/>
            <a:ext cx="1119226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Perencanaan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828800" y="2697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2"/>
                </a:solidFill>
              </a:rPr>
              <a:t>100%</a:t>
            </a:r>
            <a:endParaRPr lang="en-US" sz="1100" dirty="0"/>
          </a:p>
        </p:txBody>
      </p:sp>
      <p:sp>
        <p:nvSpPr>
          <p:cNvPr id="53" name="Bar sisa Perencanaan"/>
          <p:cNvSpPr/>
          <p:nvPr/>
        </p:nvSpPr>
        <p:spPr>
          <a:xfrm>
            <a:off x="3675888" y="2788920"/>
            <a:ext cx="1078992" cy="274320"/>
          </a:xfrm>
          <a:prstGeom prst="rect">
            <a:avLst/>
          </a:prstGeom>
          <a:solidFill>
            <a:srgbClr val="ED7D31">
              <a:alpha val="32000"/>
            </a:srgbClr>
          </a:solidFill>
          <a:ln w="12700">
            <a:solidFill>
              <a:srgbClr val="ED7D31">
                <a:alpha val="32000"/>
              </a:srgbClr>
            </a:solidFill>
            <a:prstDash val="solid"/>
          </a:ln>
        </p:spPr>
      </p:sp>
      <p:sp>
        <p:nvSpPr>
          <p:cNvPr id="54" name="Bar selesai Perencanaan"/>
          <p:cNvSpPr/>
          <p:nvPr/>
        </p:nvSpPr>
        <p:spPr>
          <a:xfrm>
            <a:off x="3675888" y="2788920"/>
            <a:ext cx="1078992" cy="2743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3154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Analisis Kebutuhan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828800" y="31546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2"/>
                </a:solidFill>
              </a:rPr>
              <a:t>0%</a:t>
            </a:r>
            <a:endParaRPr lang="en-US" sz="1100" dirty="0"/>
          </a:p>
        </p:txBody>
      </p:sp>
      <p:sp>
        <p:nvSpPr>
          <p:cNvPr id="57" name="Bar sisa Analisis Kebutuhan"/>
          <p:cNvSpPr/>
          <p:nvPr/>
        </p:nvSpPr>
        <p:spPr>
          <a:xfrm>
            <a:off x="4809744" y="3246120"/>
            <a:ext cx="1078992" cy="274320"/>
          </a:xfrm>
          <a:prstGeom prst="rect">
            <a:avLst/>
          </a:prstGeom>
          <a:solidFill>
            <a:srgbClr val="70AD47">
              <a:alpha val="32000"/>
            </a:srgbClr>
          </a:solidFill>
          <a:ln w="12700">
            <a:solidFill>
              <a:srgbClr val="70AD47">
                <a:alpha val="3200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Desain Sistem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828800" y="3611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2"/>
                </a:solidFill>
              </a:rPr>
              <a:t>0%</a:t>
            </a:r>
            <a:endParaRPr lang="en-US" sz="1100" dirty="0"/>
          </a:p>
        </p:txBody>
      </p:sp>
      <p:sp>
        <p:nvSpPr>
          <p:cNvPr id="60" name="Bar sisa Desain Sistem"/>
          <p:cNvSpPr/>
          <p:nvPr/>
        </p:nvSpPr>
        <p:spPr>
          <a:xfrm>
            <a:off x="5943600" y="3703320"/>
            <a:ext cx="1078992" cy="274320"/>
          </a:xfrm>
          <a:prstGeom prst="rect">
            <a:avLst/>
          </a:prstGeom>
          <a:solidFill>
            <a:srgbClr val="7030A0">
              <a:alpha val="32000"/>
            </a:srgbClr>
          </a:solidFill>
          <a:ln w="12700">
            <a:solidFill>
              <a:srgbClr val="7030A0">
                <a:alpha val="32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8640" y="4069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Pemrograman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828800" y="40690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2"/>
                </a:solidFill>
              </a:rPr>
              <a:t>0%</a:t>
            </a:r>
            <a:endParaRPr lang="en-US" sz="1100" dirty="0"/>
          </a:p>
        </p:txBody>
      </p:sp>
      <p:sp>
        <p:nvSpPr>
          <p:cNvPr id="63" name="Bar sisa Pemrograman"/>
          <p:cNvSpPr/>
          <p:nvPr/>
        </p:nvSpPr>
        <p:spPr>
          <a:xfrm>
            <a:off x="7077456" y="4160520"/>
            <a:ext cx="2212848" cy="274320"/>
          </a:xfrm>
          <a:prstGeom prst="rect">
            <a:avLst/>
          </a:prstGeom>
          <a:solidFill>
            <a:srgbClr val="C00000">
              <a:alpha val="32000"/>
            </a:srgbClr>
          </a:solidFill>
          <a:ln w="12700">
            <a:solidFill>
              <a:srgbClr val="C00000">
                <a:alpha val="3200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4526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Pengujian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828800" y="4526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2"/>
                </a:solidFill>
              </a:rPr>
              <a:t>0%</a:t>
            </a:r>
            <a:endParaRPr lang="en-US" sz="1100" dirty="0"/>
          </a:p>
        </p:txBody>
      </p:sp>
      <p:sp>
        <p:nvSpPr>
          <p:cNvPr id="66" name="Bar sisa Pengujian"/>
          <p:cNvSpPr/>
          <p:nvPr/>
        </p:nvSpPr>
        <p:spPr>
          <a:xfrm>
            <a:off x="9345168" y="4617720"/>
            <a:ext cx="512064" cy="274320"/>
          </a:xfrm>
          <a:prstGeom prst="rect">
            <a:avLst/>
          </a:prstGeom>
          <a:solidFill>
            <a:srgbClr val="BF9000">
              <a:alpha val="32000"/>
            </a:srgbClr>
          </a:solidFill>
          <a:ln w="12700">
            <a:solidFill>
              <a:srgbClr val="BF9000">
                <a:alpha val="3200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48640" y="4983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Penerapan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828800" y="4983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2"/>
                </a:solidFill>
              </a:rPr>
              <a:t>0%</a:t>
            </a:r>
            <a:endParaRPr lang="en-US" sz="1100" dirty="0"/>
          </a:p>
        </p:txBody>
      </p:sp>
      <p:sp>
        <p:nvSpPr>
          <p:cNvPr id="69" name="Bar sisa Penerapan"/>
          <p:cNvSpPr/>
          <p:nvPr/>
        </p:nvSpPr>
        <p:spPr>
          <a:xfrm>
            <a:off x="9912096" y="5074920"/>
            <a:ext cx="1078992" cy="274320"/>
          </a:xfrm>
          <a:prstGeom prst="rect">
            <a:avLst/>
          </a:prstGeom>
          <a:solidFill>
            <a:srgbClr val="00808A">
              <a:alpha val="32000"/>
            </a:srgbClr>
          </a:solidFill>
          <a:ln w="12700">
            <a:solidFill>
              <a:srgbClr val="00808A">
                <a:alpha val="3200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48640" y="5440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F26"/>
                </a:solidFill>
              </a:rPr>
              <a:t>Milestone</a:t>
            </a:r>
            <a:endParaRPr lang="en-US" sz="1200" dirty="0"/>
          </a:p>
        </p:txBody>
      </p:sp>
      <p:sp>
        <p:nvSpPr>
          <p:cNvPr id="71" name="Milestone M1"/>
          <p:cNvSpPr/>
          <p:nvPr/>
        </p:nvSpPr>
        <p:spPr>
          <a:xfrm>
            <a:off x="3794760" y="5550408"/>
            <a:ext cx="274320" cy="274320"/>
          </a:xfrm>
          <a:prstGeom prst="diamond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657600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M1</a:t>
            </a:r>
            <a:endParaRPr lang="en-US" sz="1000" dirty="0"/>
          </a:p>
        </p:txBody>
      </p:sp>
      <p:sp>
        <p:nvSpPr>
          <p:cNvPr id="73" name="Milestone M2"/>
          <p:cNvSpPr/>
          <p:nvPr/>
        </p:nvSpPr>
        <p:spPr>
          <a:xfrm>
            <a:off x="4361688" y="5550408"/>
            <a:ext cx="274320" cy="274320"/>
          </a:xfrm>
          <a:prstGeom prst="diamond">
            <a:avLst/>
          </a:prstGeom>
          <a:solidFill>
            <a:srgbClr val="70AD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224528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M2</a:t>
            </a:r>
            <a:endParaRPr lang="en-US" sz="1000" dirty="0"/>
          </a:p>
        </p:txBody>
      </p:sp>
      <p:sp>
        <p:nvSpPr>
          <p:cNvPr id="75" name="Milestone M3"/>
          <p:cNvSpPr/>
          <p:nvPr/>
        </p:nvSpPr>
        <p:spPr>
          <a:xfrm>
            <a:off x="5495544" y="5550408"/>
            <a:ext cx="274320" cy="274320"/>
          </a:xfrm>
          <a:prstGeom prst="diamond">
            <a:avLst/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358384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M3</a:t>
            </a:r>
            <a:endParaRPr lang="en-US" sz="1000" dirty="0"/>
          </a:p>
        </p:txBody>
      </p:sp>
      <p:sp>
        <p:nvSpPr>
          <p:cNvPr id="77" name="Milestone M4"/>
          <p:cNvSpPr/>
          <p:nvPr/>
        </p:nvSpPr>
        <p:spPr>
          <a:xfrm>
            <a:off x="6629400" y="5550408"/>
            <a:ext cx="274320" cy="274320"/>
          </a:xfrm>
          <a:prstGeom prst="diamond">
            <a:avLst/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492240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M4</a:t>
            </a:r>
            <a:endParaRPr lang="en-US" sz="1000" dirty="0"/>
          </a:p>
        </p:txBody>
      </p:sp>
      <p:sp>
        <p:nvSpPr>
          <p:cNvPr id="79" name="Milestone M5"/>
          <p:cNvSpPr/>
          <p:nvPr/>
        </p:nvSpPr>
        <p:spPr>
          <a:xfrm>
            <a:off x="7196328" y="5550408"/>
            <a:ext cx="274320" cy="274320"/>
          </a:xfrm>
          <a:prstGeom prst="diamond">
            <a:avLst/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059168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M5</a:t>
            </a:r>
            <a:endParaRPr lang="en-US" sz="1000" dirty="0"/>
          </a:p>
        </p:txBody>
      </p:sp>
      <p:sp>
        <p:nvSpPr>
          <p:cNvPr id="81" name="Milestone M6"/>
          <p:cNvSpPr/>
          <p:nvPr/>
        </p:nvSpPr>
        <p:spPr>
          <a:xfrm>
            <a:off x="7763256" y="5550408"/>
            <a:ext cx="274320" cy="274320"/>
          </a:xfrm>
          <a:prstGeom prst="diamond">
            <a:avLst/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626096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M6</a:t>
            </a:r>
            <a:endParaRPr lang="en-US" sz="1000" dirty="0"/>
          </a:p>
        </p:txBody>
      </p:sp>
      <p:sp>
        <p:nvSpPr>
          <p:cNvPr id="83" name="Milestone M7"/>
          <p:cNvSpPr/>
          <p:nvPr/>
        </p:nvSpPr>
        <p:spPr>
          <a:xfrm>
            <a:off x="8897112" y="5550408"/>
            <a:ext cx="274320" cy="274320"/>
          </a:xfrm>
          <a:prstGeom prst="diamond">
            <a:avLst/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759952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M7</a:t>
            </a:r>
            <a:endParaRPr lang="en-US" sz="1000" dirty="0"/>
          </a:p>
        </p:txBody>
      </p:sp>
      <p:sp>
        <p:nvSpPr>
          <p:cNvPr id="85" name="Milestone M8"/>
          <p:cNvSpPr/>
          <p:nvPr/>
        </p:nvSpPr>
        <p:spPr>
          <a:xfrm>
            <a:off x="9464040" y="5550408"/>
            <a:ext cx="274320" cy="274320"/>
          </a:xfrm>
          <a:prstGeom prst="diamond">
            <a:avLst/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326880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M8</a:t>
            </a:r>
            <a:endParaRPr lang="en-US" sz="1000" dirty="0"/>
          </a:p>
        </p:txBody>
      </p:sp>
      <p:sp>
        <p:nvSpPr>
          <p:cNvPr id="87" name="Milestone M9"/>
          <p:cNvSpPr/>
          <p:nvPr/>
        </p:nvSpPr>
        <p:spPr>
          <a:xfrm>
            <a:off x="10597896" y="5550408"/>
            <a:ext cx="274320" cy="274320"/>
          </a:xfrm>
          <a:prstGeom prst="diamond">
            <a:avLst/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460736" y="5861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1F26"/>
                </a:solidFill>
              </a:rPr>
              <a:t>M9</a:t>
            </a:r>
            <a:endParaRPr lang="en-US" sz="1000" dirty="0"/>
          </a:p>
        </p:txBody>
      </p:sp>
      <p:sp>
        <p:nvSpPr>
          <p:cNvPr id="89" name="Garis hari ini"/>
          <p:cNvSpPr/>
          <p:nvPr/>
        </p:nvSpPr>
        <p:spPr>
          <a:xfrm>
            <a:off x="4772222" y="1280160"/>
            <a:ext cx="0" cy="4937760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</a:ln>
        </p:spPr>
      </p:sp>
      <p:sp>
        <p:nvSpPr>
          <p:cNvPr id="90" name="Text 88"/>
          <p:cNvSpPr txBox="1"/>
          <p:nvPr/>
        </p:nvSpPr>
        <p:spPr>
          <a:xfrm>
            <a:off x="4032504" y="1024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Hari ini, 19 Okt (Mg 4)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548640" y="63550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A62"/>
                </a:solidFill>
              </a:rPr>
              <a:t>Warna pekat = selesai, pudar = sisa. Manajemen Proyek dihitung dari waktu berjalan. Milestone: merah = terlambat, hijau = tercapai, kuning = belum. Abu-abu = UTS (Mg 11) dan UAS (Mg 16).</a:t>
            </a:r>
            <a:endParaRPr lang="en-US" sz="110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B2A33"/>
                </a:solidFill>
              </a:rPr>
              <a:t>Milestone dan status terkini</a:t>
            </a:r>
            <a:endParaRPr lang="en-US" sz="3400" dirty="0"/>
          </a:p>
        </p:txBody>
      </p:sp>
      <p:graphicFrame>
        <p:nvGraphicFramePr>
          <p:cNvPr id="6" name="Tabel mileston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4572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Kode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Mg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Awal minggu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M1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RD disetujui klien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12 Okt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Terlambat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M2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WBS dan Gantt selesai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19 Okt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E8E41"/>
                          </a:solidFill>
                        </a:rPr>
                        <a:t>Tercapai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M3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SRS selesai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 Nov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5A62"/>
                          </a:solidFill>
                        </a:rPr>
                        <a:t>Belum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M4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SDD selesai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16 Nov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5A62"/>
                          </a:solidFill>
                        </a:rPr>
                        <a:t>Belum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M5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Demo Modul 1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23 Nov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5A62"/>
                          </a:solidFill>
                        </a:rPr>
                        <a:t>Belum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Demo Modul 2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30 Nov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5A62"/>
                          </a:solidFill>
                        </a:rPr>
                        <a:t>Belum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M7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Demo Modul 3, semua fitur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14 Des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5A62"/>
                          </a:solidFill>
                        </a:rPr>
                        <a:t>Belum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M8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UAT diterima klien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21 Des 2026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5A62"/>
                          </a:solidFill>
                        </a:rPr>
                        <a:t>Belum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F26"/>
                          </a:solidFill>
                        </a:rPr>
                        <a:t>M9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Pelatihan dan BAST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F26"/>
                          </a:solidFill>
                        </a:rPr>
                        <a:t>4 Jan 2027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B5A62"/>
                          </a:solidFill>
                        </a:rPr>
                        <a:t>Belum</a:t>
                      </a:r>
                      <a:endParaRPr lang="en-US" sz="1300" dirty="0"/>
                    </a:p>
                  </a:txBody>
                  <a:tcPr marT="18288" marB="18288" anchor="ctr">
                    <a:lnL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Kartu info 1"/>
          <p:cNvSpPr/>
          <p:nvPr/>
        </p:nvSpPr>
        <p:spPr>
          <a:xfrm>
            <a:off x="7772400" y="1280160"/>
            <a:ext cx="38679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D3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09560" y="1325880"/>
            <a:ext cx="3593592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C4A5E"/>
                </a:solidFill>
              </a:rPr>
              <a:t>Posisi 19 Okt (Mg 4)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2B1F26"/>
                </a:solidFill>
              </a:rPr>
              <a:t>Perencanaan 100%, Definisi 68%. RD sudah dibuat, tinggal tanda tangan Bu Eka (paket 2.3).</a:t>
            </a:r>
            <a:endParaRPr lang="en-US" sz="1600" dirty="0"/>
          </a:p>
        </p:txBody>
      </p:sp>
      <p:sp>
        <p:nvSpPr>
          <p:cNvPr id="3" name="Kartu info 2"/>
          <p:cNvSpPr/>
          <p:nvPr/>
        </p:nvSpPr>
        <p:spPr>
          <a:xfrm>
            <a:off x="7772400" y="2880360"/>
            <a:ext cx="38679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D3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2926080"/>
            <a:ext cx="3593592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C4A5E"/>
                </a:solidFill>
              </a:rPr>
              <a:t>Langkah terdekat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2B1F26"/>
                </a:solidFill>
              </a:rPr>
              <a:t>Minta tanda tangan RD agar M1 tercapai, lalu masuk Analisis Kebutuhan di Mg 5.</a:t>
            </a:r>
            <a:endParaRPr lang="en-US" sz="1600" dirty="0"/>
          </a:p>
        </p:txBody>
      </p:sp>
      <p:sp>
        <p:nvSpPr>
          <p:cNvPr id="8" name="Kartu info 3"/>
          <p:cNvSpPr/>
          <p:nvPr/>
        </p:nvSpPr>
        <p:spPr>
          <a:xfrm>
            <a:off x="7772400" y="4480560"/>
            <a:ext cx="38679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D3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4526280"/>
            <a:ext cx="3593592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C4A5E"/>
                </a:solidFill>
              </a:rPr>
              <a:t>Risiko jadwal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2B1F26"/>
                </a:solidFill>
              </a:rPr>
              <a:t>Satu programmer memegang tiga modul (R-17), UTS Mg 11, dan libur Natal serta Tahun Baru.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62"/>
                </a:solidFill>
              </a:rPr>
              <a:t>Dipantau tiap rapat mingguan. Tugas telat lebih dari satu minggu: cari penyebab, susun ulang prioritas, perbarui Gantt, lapor ke dosen dan klien.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A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ea Daily">
  <a:themeElements>
    <a:clrScheme name="Shea Daily">
      <a:dk1>
        <a:srgbClr val="2B1F26"/>
      </a:dk1>
      <a:lt1>
        <a:srgbClr val="FFFFFF"/>
      </a:lt1>
      <a:dk2>
        <a:srgbClr val="3B2A33"/>
      </a:dk2>
      <a:lt2>
        <a:srgbClr val="F8F2F3"/>
      </a:lt2>
      <a:accent1>
        <a:srgbClr val="8C4A5E"/>
      </a:accent1>
      <a:accent2>
        <a:srgbClr val="6F8F80"/>
      </a:accent2>
      <a:accent3>
        <a:srgbClr val="E3A857"/>
      </a:accent3>
      <a:accent4>
        <a:srgbClr val="C0392B"/>
      </a:accent4>
      <a:accent5>
        <a:srgbClr val="B07A8A"/>
      </a:accent5>
      <a:accent6>
        <a:srgbClr val="5E7F8F"/>
      </a:accent6>
      <a:hlink>
        <a:srgbClr val="8C4A5E"/>
      </a:hlink>
      <a:folHlink>
        <a:srgbClr val="6F8F80"/>
      </a:folHlink>
    </a:clrScheme>
    <a:fontScheme name="Shea Dail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1022</Words>
  <Application>Microsoft Office PowerPoint</Application>
  <PresentationFormat>Widescreen</PresentationFormat>
  <Paragraphs>238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Shea Daily</vt:lpstr>
      <vt:lpstr>PowerPoint Presentation</vt:lpstr>
      <vt:lpstr>WBS: 8 paket besar, 29 paket kerja</vt:lpstr>
      <vt:lpstr>Jadwal: 7 fase berurutan sampai Mg 15</vt:lpstr>
      <vt:lpstr>Gantt Chart: 15 minggu, 9 milestone</vt:lpstr>
      <vt:lpstr>Milestone dan status terkini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Rencana Proyek Shea Daily: WBS dan Gantt Chart</dc:title>
  <dc:subject>PptxGenJS Presentation</dc:subject>
  <dc:creator>Kelompok 5</dc:creator>
  <cp:lastModifiedBy>ricolasdians@gmail.com</cp:lastModifiedBy>
  <cp:revision>3</cp:revision>
  <dcterms:created xsi:type="dcterms:W3CDTF">2026-10-18T21:50:03Z</dcterms:created>
  <dcterms:modified xsi:type="dcterms:W3CDTF">2026-10-19T02:24:38Z</dcterms:modified>
</cp:coreProperties>
</file>